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Relationship Id="rId17" Type="http://schemas.openxmlformats.org/officeDocument/2006/relationships/image" Target="../media/image23.png"/><Relationship Id="rId18" Type="http://schemas.openxmlformats.org/officeDocument/2006/relationships/image" Target="../media/image24.png"/><Relationship Id="rId19" Type="http://schemas.openxmlformats.org/officeDocument/2006/relationships/image" Target="../media/image25.png"/><Relationship Id="rId20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16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19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39.png"/><Relationship Id="rId18" Type="http://schemas.openxmlformats.org/officeDocument/2006/relationships/image" Target="../media/image40.png"/><Relationship Id="rId19" Type="http://schemas.openxmlformats.org/officeDocument/2006/relationships/image" Target="../media/image41.png"/><Relationship Id="rId20" Type="http://schemas.openxmlformats.org/officeDocument/2006/relationships/image" Target="../media/image42.png"/><Relationship Id="rId21" Type="http://schemas.openxmlformats.org/officeDocument/2006/relationships/image" Target="../media/image43.png"/><Relationship Id="rId22" Type="http://schemas.openxmlformats.org/officeDocument/2006/relationships/image" Target="../media/image44.png"/><Relationship Id="rId23" Type="http://schemas.openxmlformats.org/officeDocument/2006/relationships/image" Target="../media/image45.png"/><Relationship Id="rId24" Type="http://schemas.openxmlformats.org/officeDocument/2006/relationships/image" Target="../media/image46.png"/><Relationship Id="rId25" Type="http://schemas.openxmlformats.org/officeDocument/2006/relationships/image" Target="../media/image4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16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19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openxmlformats.org/officeDocument/2006/relationships/image" Target="../media/image63.png"/><Relationship Id="rId21" Type="http://schemas.openxmlformats.org/officeDocument/2006/relationships/image" Target="../media/image64.png"/><Relationship Id="rId22" Type="http://schemas.openxmlformats.org/officeDocument/2006/relationships/image" Target="../media/image65.png"/><Relationship Id="rId23" Type="http://schemas.openxmlformats.org/officeDocument/2006/relationships/image" Target="../media/image66.png"/><Relationship Id="rId24" Type="http://schemas.openxmlformats.org/officeDocument/2006/relationships/image" Target="../media/image6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Relationship Id="rId11" Type="http://schemas.openxmlformats.org/officeDocument/2006/relationships/image" Target="../media/image76.png"/><Relationship Id="rId12" Type="http://schemas.openxmlformats.org/officeDocument/2006/relationships/image" Target="../media/image77.png"/><Relationship Id="rId13" Type="http://schemas.openxmlformats.org/officeDocument/2006/relationships/image" Target="../media/image78.png"/><Relationship Id="rId14" Type="http://schemas.openxmlformats.org/officeDocument/2006/relationships/image" Target="../media/image79.png"/><Relationship Id="rId15" Type="http://schemas.openxmlformats.org/officeDocument/2006/relationships/image" Target="../media/image80.png"/><Relationship Id="rId16" Type="http://schemas.openxmlformats.org/officeDocument/2006/relationships/image" Target="../media/image16.png"/><Relationship Id="rId17" Type="http://schemas.openxmlformats.org/officeDocument/2006/relationships/image" Target="../media/image81.png"/><Relationship Id="rId18" Type="http://schemas.openxmlformats.org/officeDocument/2006/relationships/image" Target="../media/image82.png"/><Relationship Id="rId19" Type="http://schemas.openxmlformats.org/officeDocument/2006/relationships/image" Target="../media/image19.png"/><Relationship Id="rId20" Type="http://schemas.openxmlformats.org/officeDocument/2006/relationships/image" Target="../media/image83.png"/><Relationship Id="rId21" Type="http://schemas.openxmlformats.org/officeDocument/2006/relationships/image" Target="../media/image84.png"/><Relationship Id="rId22" Type="http://schemas.openxmlformats.org/officeDocument/2006/relationships/image" Target="../media/image85.png"/><Relationship Id="rId23" Type="http://schemas.openxmlformats.org/officeDocument/2006/relationships/image" Target="../media/image86.png"/><Relationship Id="rId24" Type="http://schemas.openxmlformats.org/officeDocument/2006/relationships/image" Target="../media/image87.png"/><Relationship Id="rId25" Type="http://schemas.openxmlformats.org/officeDocument/2006/relationships/image" Target="../media/image88.png"/><Relationship Id="rId26" Type="http://schemas.openxmlformats.org/officeDocument/2006/relationships/image" Target="../media/image89.png"/><Relationship Id="rId27" Type="http://schemas.openxmlformats.org/officeDocument/2006/relationships/image" Target="../media/image90.png"/><Relationship Id="rId28" Type="http://schemas.openxmlformats.org/officeDocument/2006/relationships/image" Target="../media/image91.png"/><Relationship Id="rId29" Type="http://schemas.openxmlformats.org/officeDocument/2006/relationships/image" Target="../media/image92.png"/><Relationship Id="rId30" Type="http://schemas.openxmlformats.org/officeDocument/2006/relationships/image" Target="../media/image93.png"/><Relationship Id="rId31" Type="http://schemas.openxmlformats.org/officeDocument/2006/relationships/image" Target="../media/image94.png"/><Relationship Id="rId32" Type="http://schemas.openxmlformats.org/officeDocument/2006/relationships/image" Target="../media/image95.png"/><Relationship Id="rId33" Type="http://schemas.openxmlformats.org/officeDocument/2006/relationships/image" Target="../media/image96.png"/><Relationship Id="rId34" Type="http://schemas.openxmlformats.org/officeDocument/2006/relationships/image" Target="../media/image97.png"/><Relationship Id="rId35" Type="http://schemas.openxmlformats.org/officeDocument/2006/relationships/image" Target="../media/image98.png"/><Relationship Id="rId36" Type="http://schemas.openxmlformats.org/officeDocument/2006/relationships/image" Target="../media/image99.png"/><Relationship Id="rId37" Type="http://schemas.openxmlformats.org/officeDocument/2006/relationships/image" Target="../media/image100.png"/><Relationship Id="rId38" Type="http://schemas.openxmlformats.org/officeDocument/2006/relationships/image" Target="../media/image101.png"/><Relationship Id="rId39" Type="http://schemas.openxmlformats.org/officeDocument/2006/relationships/image" Target="../media/image102.png"/><Relationship Id="rId40" Type="http://schemas.openxmlformats.org/officeDocument/2006/relationships/image" Target="../media/image103.png"/><Relationship Id="rId41" Type="http://schemas.openxmlformats.org/officeDocument/2006/relationships/image" Target="../media/image10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image" Target="../media/image110.png"/><Relationship Id="rId9" Type="http://schemas.openxmlformats.org/officeDocument/2006/relationships/image" Target="../media/image111.png"/><Relationship Id="rId10" Type="http://schemas.openxmlformats.org/officeDocument/2006/relationships/image" Target="../media/image112.png"/><Relationship Id="rId11" Type="http://schemas.openxmlformats.org/officeDocument/2006/relationships/image" Target="../media/image113.png"/><Relationship Id="rId12" Type="http://schemas.openxmlformats.org/officeDocument/2006/relationships/image" Target="../media/image114.png"/><Relationship Id="rId13" Type="http://schemas.openxmlformats.org/officeDocument/2006/relationships/image" Target="../media/image115.png"/><Relationship Id="rId14" Type="http://schemas.openxmlformats.org/officeDocument/2006/relationships/image" Target="../media/image116.png"/><Relationship Id="rId15" Type="http://schemas.openxmlformats.org/officeDocument/2006/relationships/image" Target="../media/image117.png"/><Relationship Id="rId16" Type="http://schemas.openxmlformats.org/officeDocument/2006/relationships/image" Target="../media/image118.png"/><Relationship Id="rId17" Type="http://schemas.openxmlformats.org/officeDocument/2006/relationships/image" Target="../media/image119.png"/><Relationship Id="rId18" Type="http://schemas.openxmlformats.org/officeDocument/2006/relationships/image" Target="../media/image16.png"/><Relationship Id="rId19" Type="http://schemas.openxmlformats.org/officeDocument/2006/relationships/image" Target="../media/image120.png"/><Relationship Id="rId20" Type="http://schemas.openxmlformats.org/officeDocument/2006/relationships/image" Target="../media/image121.png"/><Relationship Id="rId21" Type="http://schemas.openxmlformats.org/officeDocument/2006/relationships/image" Target="../media/image19.png"/><Relationship Id="rId22" Type="http://schemas.openxmlformats.org/officeDocument/2006/relationships/image" Target="../media/image122.png"/><Relationship Id="rId23" Type="http://schemas.openxmlformats.org/officeDocument/2006/relationships/image" Target="../media/image123.png"/><Relationship Id="rId24" Type="http://schemas.openxmlformats.org/officeDocument/2006/relationships/image" Target="../media/image124.png"/><Relationship Id="rId25" Type="http://schemas.openxmlformats.org/officeDocument/2006/relationships/image" Target="../media/image1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6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image" Target="../media/image129.png"/><Relationship Id="rId7" Type="http://schemas.openxmlformats.org/officeDocument/2006/relationships/image" Target="../media/image130.png"/><Relationship Id="rId8" Type="http://schemas.openxmlformats.org/officeDocument/2006/relationships/image" Target="../media/image131.png"/><Relationship Id="rId9" Type="http://schemas.openxmlformats.org/officeDocument/2006/relationships/image" Target="../media/image132.png"/><Relationship Id="rId10" Type="http://schemas.openxmlformats.org/officeDocument/2006/relationships/image" Target="../media/image133.png"/><Relationship Id="rId11" Type="http://schemas.openxmlformats.org/officeDocument/2006/relationships/image" Target="../media/image134.png"/><Relationship Id="rId12" Type="http://schemas.openxmlformats.org/officeDocument/2006/relationships/image" Target="../media/image135.png"/><Relationship Id="rId13" Type="http://schemas.openxmlformats.org/officeDocument/2006/relationships/image" Target="../media/image136.png"/><Relationship Id="rId14" Type="http://schemas.openxmlformats.org/officeDocument/2006/relationships/image" Target="../media/image137.png"/><Relationship Id="rId15" Type="http://schemas.openxmlformats.org/officeDocument/2006/relationships/image" Target="../media/image138.png"/><Relationship Id="rId16" Type="http://schemas.openxmlformats.org/officeDocument/2006/relationships/image" Target="../media/image16.png"/><Relationship Id="rId17" Type="http://schemas.openxmlformats.org/officeDocument/2006/relationships/image" Target="../media/image139.png"/><Relationship Id="rId18" Type="http://schemas.openxmlformats.org/officeDocument/2006/relationships/image" Target="../media/image140.png"/><Relationship Id="rId19" Type="http://schemas.openxmlformats.org/officeDocument/2006/relationships/image" Target="../media/image19.png"/><Relationship Id="rId20" Type="http://schemas.openxmlformats.org/officeDocument/2006/relationships/image" Target="../media/image141.png"/><Relationship Id="rId21" Type="http://schemas.openxmlformats.org/officeDocument/2006/relationships/image" Target="../media/image1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3.png"/><Relationship Id="rId4" Type="http://schemas.openxmlformats.org/officeDocument/2006/relationships/image" Target="../media/image144.png"/><Relationship Id="rId5" Type="http://schemas.openxmlformats.org/officeDocument/2006/relationships/image" Target="../media/image145.png"/><Relationship Id="rId6" Type="http://schemas.openxmlformats.org/officeDocument/2006/relationships/image" Target="../media/image146.png"/><Relationship Id="rId7" Type="http://schemas.openxmlformats.org/officeDocument/2006/relationships/image" Target="../media/image147.png"/><Relationship Id="rId8" Type="http://schemas.openxmlformats.org/officeDocument/2006/relationships/image" Target="../media/image16.png"/><Relationship Id="rId9" Type="http://schemas.openxmlformats.org/officeDocument/2006/relationships/image" Target="../media/image148.png"/><Relationship Id="rId10" Type="http://schemas.openxmlformats.org/officeDocument/2006/relationships/image" Target="../media/image149.png"/><Relationship Id="rId11" Type="http://schemas.openxmlformats.org/officeDocument/2006/relationships/image" Target="../media/image19.png"/><Relationship Id="rId12" Type="http://schemas.openxmlformats.org/officeDocument/2006/relationships/image" Target="../media/image150.png"/><Relationship Id="rId13" Type="http://schemas.openxmlformats.org/officeDocument/2006/relationships/image" Target="../media/image151.png"/><Relationship Id="rId14" Type="http://schemas.openxmlformats.org/officeDocument/2006/relationships/image" Target="../media/image152.png"/><Relationship Id="rId15" Type="http://schemas.openxmlformats.org/officeDocument/2006/relationships/image" Target="../media/image153.png"/><Relationship Id="rId16" Type="http://schemas.openxmlformats.org/officeDocument/2006/relationships/image" Target="../media/image154.png"/><Relationship Id="rId17" Type="http://schemas.openxmlformats.org/officeDocument/2006/relationships/image" Target="../media/image155.png"/><Relationship Id="rId18" Type="http://schemas.openxmlformats.org/officeDocument/2006/relationships/image" Target="../media/image156.png"/><Relationship Id="rId19" Type="http://schemas.openxmlformats.org/officeDocument/2006/relationships/image" Target="../media/image157.png"/><Relationship Id="rId20" Type="http://schemas.openxmlformats.org/officeDocument/2006/relationships/image" Target="../media/image15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52437"/>
            <a:ext cx="3609975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150" y="438150"/>
            <a:ext cx="2076450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753100"/>
            <a:ext cx="2095500" cy="819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1300" y="5753100"/>
            <a:ext cx="6057900" cy="819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1600" y="5753100"/>
            <a:ext cx="2667000" cy="819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2600325"/>
            <a:ext cx="11125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563EB"/>
                </a:solidFill>
                <a:latin typeface="Plus Jakarta Sans ExtraBold"/>
              </a:rPr>
              <a:t>CODE FOR GOOD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895600"/>
            <a:ext cx="111252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b="0" sz="4500" i="0" u="none">
                <a:solidFill>
                  <a:srgbClr val="0F172A"/>
                </a:solidFill>
                <a:latin typeface="Plus Jakarta Sans ExtraBold"/>
              </a:rPr>
              <a:t>[PROJECT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3648075"/>
            <a:ext cx="81915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0" sz="1500" i="0" u="none">
                <a:solidFill>
                  <a:srgbClr val="475569"/>
                </a:solidFill>
                <a:latin typeface="Plus Jakarta Sans"/>
              </a:rPr>
              <a:t>[ONE-LINE VALUE PROPOSITION: Describe what the solution achieves and who benefits]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542925"/>
            <a:ext cx="11430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44075" y="542925"/>
            <a:ext cx="152400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" y="5895975"/>
            <a:ext cx="1733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JetBrains Mono"/>
              </a:rPr>
              <a:t>TEAM IDENTIFICATION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6067425"/>
            <a:ext cx="17335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0F172A"/>
                </a:solidFill>
                <a:latin typeface="JetBrains Mono"/>
              </a:rPr>
              <a:t>Team [NUMBER]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275" y="5895975"/>
            <a:ext cx="56959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JetBrains Mono"/>
              </a:rPr>
              <a:t>TEAM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275" y="6067425"/>
            <a:ext cx="56959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0F172A"/>
                </a:solidFill>
                <a:latin typeface="JetBrains Mono"/>
              </a:rPr>
              <a:t>[MEMBER 1, MEMBER 2, MEMBER 3, MEMBER 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2575" y="5895975"/>
            <a:ext cx="23050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JetBrains Mono"/>
              </a:rPr>
              <a:t>JUDGING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2575" y="6067425"/>
            <a:ext cx="2305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0F172A"/>
                </a:solidFill>
                <a:latin typeface="JetBrains Mono"/>
              </a:rPr>
              <a:t>KLU Alumni @ JPMorgan Chase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125" y="381000"/>
            <a:ext cx="22764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09662"/>
            <a:ext cx="6287392" cy="52244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5345906"/>
            <a:ext cx="5801617" cy="7881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1292" y="5715000"/>
            <a:ext cx="4647307" cy="619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1292" y="1109662"/>
            <a:ext cx="4647307" cy="59888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1292" y="1803796"/>
            <a:ext cx="4647307" cy="59888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1292" y="2497931"/>
            <a:ext cx="4647307" cy="75961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6334125"/>
            <a:ext cx="11125200" cy="2952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6457950"/>
            <a:ext cx="34861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 Medium"/>
              </a:rPr>
              <a:t>[PROJECT NAME] · Code for Good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1825" y="6467475"/>
            <a:ext cx="866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 SemiBold"/>
              </a:rPr>
              <a:t>Slide 02 / 08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381000"/>
            <a:ext cx="134302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628650"/>
            <a:ext cx="1775221" cy="32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b="0" sz="2250" i="0" u="none">
                <a:solidFill>
                  <a:srgbClr val="0F172A"/>
                </a:solidFill>
                <a:latin typeface="Plus Jakarta Sans ExtraBold"/>
              </a:rPr>
              <a:t>The Problem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5000" y="466725"/>
            <a:ext cx="114300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" y="6457950"/>
            <a:ext cx="1019175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1328737"/>
            <a:ext cx="1343025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0100" y="1633537"/>
            <a:ext cx="5801617" cy="469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0" sz="1275" i="0" u="none">
                <a:solidFill>
                  <a:srgbClr val="0F172A"/>
                </a:solidFill>
                <a:latin typeface="Plus Jakarta Sans SemiBold"/>
              </a:rPr>
              <a:t>"[CORE PROBLEM: State the specific operational, societal, or technical bottleneck in 1–2 clear sentences.]"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2217241"/>
            <a:ext cx="5801617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975" i="0" u="none">
                <a:solidFill>
                  <a:srgbClr val="475569"/>
                </a:solidFill>
                <a:latin typeface="Plus Jakarta Sans"/>
              </a:rPr>
              <a:t>Why does this matter?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[REAL-WORLD IMPACT: Explain the critical consequence if this issue remains unaddressed.]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1575" y="5469731"/>
            <a:ext cx="5551631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37" i="0" u="none">
                <a:solidFill>
                  <a:srgbClr val="475569"/>
                </a:solidFill>
                <a:latin typeface="JetBrains Mono"/>
              </a:rPr>
              <a:t>TARGET STAKEHOLDERS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975" y="5688806"/>
            <a:ext cx="5515867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1" sz="937" i="0" u="none">
                <a:solidFill>
                  <a:srgbClr val="334155"/>
                </a:solidFill>
                <a:latin typeface="Plus Jakarta Sans"/>
              </a:rPr>
              <a:t>Primary Users / Beneficiaries:</a:t>
            </a:r>
            <a:r>
              <a:rPr b="0" sz="937" i="0" u="none">
                <a:solidFill>
                  <a:srgbClr val="334155"/>
                </a:solidFill>
                <a:latin typeface="Plus Jakarta Sans"/>
              </a:rPr>
              <a:t> [PRIMARY USERS]</a:t>
            </a:r>
            <a:r>
              <a:t>
</a:t>
            </a:r>
            <a:r>
              <a:rPr b="1" sz="937" i="0" u="none">
                <a:solidFill>
                  <a:srgbClr val="334155"/>
                </a:solidFill>
                <a:latin typeface="Plus Jakarta Sans"/>
              </a:rPr>
              <a:t>Secondary Stakeholders:</a:t>
            </a:r>
            <a:r>
              <a:rPr b="0" sz="937" i="0" u="none">
                <a:solidFill>
                  <a:srgbClr val="334155"/>
                </a:solidFill>
                <a:latin typeface="Plus Jakarta Sans"/>
              </a:rPr>
              <a:t> [SECONDARY STAKEHOLDERS]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1750" y="5848350"/>
            <a:ext cx="129540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38BDF8"/>
                </a:solidFill>
                <a:latin typeface="JetBrains Mono ExtraBold"/>
              </a:rPr>
              <a:t>[STAT %]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2975" y="5491162"/>
            <a:ext cx="152400" cy="11906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54167" y="1233487"/>
            <a:ext cx="285750" cy="2857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54167" y="1927621"/>
            <a:ext cx="285750" cy="2857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54167" y="2621756"/>
            <a:ext cx="285750" cy="2857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82742" y="5881687"/>
            <a:ext cx="2971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87" i="0" u="none">
                <a:solidFill>
                  <a:srgbClr val="94A3B8"/>
                </a:solidFill>
                <a:latin typeface="JetBrains Mono"/>
              </a:rPr>
              <a:t>KEY BASELINE METRIC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2742" y="6015037"/>
            <a:ext cx="2971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E2E8F0"/>
                </a:solidFill>
                <a:latin typeface="Plus Jakarta Sans"/>
              </a:rPr>
              <a:t>[DESCRIPTION OF CURRENT INEFFICIENCY / METRIC]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35130" y="1314450"/>
            <a:ext cx="123825" cy="1238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54217" y="1233487"/>
            <a:ext cx="3600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991B1B"/>
                </a:solidFill>
                <a:latin typeface="JetBrains Mono"/>
              </a:rPr>
              <a:t>[PAIN POINT 1]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4217" y="1423987"/>
            <a:ext cx="3429000" cy="1607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[Describe the primary operational inefficiency or bottleneck.]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44655" y="2008584"/>
            <a:ext cx="104775" cy="1238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554217" y="1927621"/>
            <a:ext cx="4130516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991B1B"/>
                </a:solidFill>
                <a:latin typeface="JetBrains Mono"/>
              </a:rPr>
              <a:t>[PAIN POINT 2]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54217" y="2118121"/>
            <a:ext cx="3933825" cy="1607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[Describe data fragmentation, latency, or communication breakdown.]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35130" y="2702718"/>
            <a:ext cx="123825" cy="12382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554217" y="2621756"/>
            <a:ext cx="415958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991B1B"/>
                </a:solidFill>
                <a:latin typeface="JetBrains Mono"/>
              </a:rPr>
              <a:t>[PAIN POINT 3]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4217" y="2812256"/>
            <a:ext cx="3961507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[Describe scalability constraint, manual overhead, or accessibility barrier.]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375" y="381000"/>
            <a:ext cx="21812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09662"/>
            <a:ext cx="11125200" cy="113198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413099"/>
            <a:ext cx="2667000" cy="146446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00" y="2413099"/>
            <a:ext cx="2667000" cy="146446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413099"/>
            <a:ext cx="2667000" cy="146446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1600" y="2413099"/>
            <a:ext cx="2667000" cy="146446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6334125"/>
            <a:ext cx="11125200" cy="295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457950"/>
            <a:ext cx="34861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 Medium"/>
              </a:rPr>
              <a:t>[PROJECT NAME] · Code for Good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1825" y="6467475"/>
            <a:ext cx="866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 SemiBold"/>
              </a:rPr>
              <a:t>Slide 03 / 08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81000"/>
            <a:ext cx="199072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628650"/>
            <a:ext cx="2090261" cy="32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b="0" sz="2250" i="0" u="none">
                <a:solidFill>
                  <a:srgbClr val="0F172A"/>
                </a:solidFill>
                <a:latin typeface="Plus Jakarta Sans ExtraBold"/>
              </a:rPr>
              <a:t>Our Solution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0250" y="466725"/>
            <a:ext cx="85725" cy="114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6457950"/>
            <a:ext cx="1019175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71550" y="1309687"/>
            <a:ext cx="1044892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62" i="0" u="none">
                <a:solidFill>
                  <a:srgbClr val="1D4ED8"/>
                </a:solidFill>
                <a:latin typeface="JetBrains Mono"/>
              </a:rPr>
              <a:t>SOLUTION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1528762"/>
            <a:ext cx="10648950" cy="512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0F172A"/>
                </a:solidFill>
                <a:latin typeface="Plus Jakarta Sans SemiBold"/>
              </a:rPr>
              <a:t>"We built , a that helps to by ."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525" y="1326356"/>
            <a:ext cx="123825" cy="109537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33525" y="1528762"/>
            <a:ext cx="150495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48025" y="1528762"/>
            <a:ext cx="2171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500" y="1528762"/>
            <a:ext cx="1504950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29575" y="1528762"/>
            <a:ext cx="16002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1525" y="1528762"/>
            <a:ext cx="9877425" cy="52313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38300" y="2594074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838" y="3146524"/>
            <a:ext cx="99012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87" i="0" u="none">
                <a:solidFill>
                  <a:srgbClr val="0F172A"/>
                </a:solidFill>
                <a:latin typeface="Plus Jakarta Sans"/>
              </a:rPr>
              <a:t>1. User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325" y="3375124"/>
            <a:ext cx="2343150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5"/>
              </a:lnSpc>
            </a:pPr>
            <a:r>
              <a:rPr b="0" sz="937" i="0" u="none">
                <a:solidFill>
                  <a:srgbClr val="64748B"/>
                </a:solidFill>
                <a:latin typeface="Plus Jakarta Sans"/>
              </a:rPr>
              <a:t>[User accesses portal / inputs data / submits request]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57700" y="2594074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51233" y="3146524"/>
            <a:ext cx="107013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87" i="0" u="none">
                <a:solidFill>
                  <a:srgbClr val="0F172A"/>
                </a:solidFill>
                <a:latin typeface="Plus Jakarta Sans"/>
              </a:rPr>
              <a:t>2. Our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4725" y="3375124"/>
            <a:ext cx="2343150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5"/>
              </a:lnSpc>
            </a:pPr>
            <a:r>
              <a:rPr b="0" sz="937" i="0" u="none">
                <a:solidFill>
                  <a:srgbClr val="64748B"/>
                </a:solidFill>
                <a:latin typeface="Plus Jakarta Sans"/>
              </a:rPr>
              <a:t>[System routes, validates, and orchestrates data workflows]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77100" y="2594074"/>
            <a:ext cx="457200" cy="457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570583" y="3146524"/>
            <a:ext cx="187023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87" i="0" u="none">
                <a:solidFill>
                  <a:srgbClr val="0F172A"/>
                </a:solidFill>
                <a:latin typeface="Plus Jakarta Sans"/>
              </a:rPr>
              <a:t>3. Processing / Optional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4125" y="3375124"/>
            <a:ext cx="2343150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5"/>
              </a:lnSpc>
            </a:pPr>
            <a:r>
              <a:rPr b="0" sz="937" i="0" u="none">
                <a:solidFill>
                  <a:srgbClr val="64748B"/>
                </a:solidFill>
                <a:latin typeface="Plus Jakarta Sans"/>
              </a:rPr>
              <a:t>[Automated logic, business rules, or optional intelligence engine]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96500" y="2594074"/>
            <a:ext cx="457200" cy="457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715023" y="3146524"/>
            <a:ext cx="122015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87" i="0" u="none">
                <a:solidFill>
                  <a:srgbClr val="0F172A"/>
                </a:solidFill>
                <a:latin typeface="Plus Jakarta Sans"/>
              </a:rPr>
              <a:t>4. Result / 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3525" y="3375124"/>
            <a:ext cx="2343150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5"/>
              </a:lnSpc>
            </a:pPr>
            <a:r>
              <a:rPr b="0" sz="937" i="0" u="none">
                <a:solidFill>
                  <a:srgbClr val="64748B"/>
                </a:solidFill>
                <a:latin typeface="Plus Jakarta Sans"/>
              </a:rPr>
              <a:t>[Verified action, real-time feedback, or dashboard update]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47837" y="2727424"/>
            <a:ext cx="238125" cy="190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6762" y="2727424"/>
            <a:ext cx="219075" cy="1905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10450" y="2727424"/>
            <a:ext cx="190500" cy="1905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29850" y="2727424"/>
            <a:ext cx="190500" cy="1905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067050" y="3135808"/>
            <a:ext cx="76200" cy="1333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86450" y="3135808"/>
            <a:ext cx="76200" cy="1333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05850" y="3135808"/>
            <a:ext cx="762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825" y="381000"/>
            <a:ext cx="1628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09662"/>
            <a:ext cx="3606700" cy="253603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2500" y="1109662"/>
            <a:ext cx="3606849" cy="253603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1750" y="1109662"/>
            <a:ext cx="3606700" cy="253603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798093"/>
            <a:ext cx="3606700" cy="253603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2500" y="3798093"/>
            <a:ext cx="3606849" cy="253603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1750" y="3798093"/>
            <a:ext cx="3606700" cy="253603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6334125"/>
            <a:ext cx="11125200" cy="2952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6457950"/>
            <a:ext cx="34861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 Medium"/>
              </a:rPr>
              <a:t>[PROJECT NAME] · Code for Good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1825" y="6467475"/>
            <a:ext cx="866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 SemiBold"/>
              </a:rPr>
              <a:t>Slide 04 / 08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381000"/>
            <a:ext cx="166687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628650"/>
            <a:ext cx="1840230" cy="32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b="0" sz="2250" i="0" u="none">
                <a:solidFill>
                  <a:srgbClr val="0F172A"/>
                </a:solidFill>
                <a:latin typeface="Plus Jakarta Sans ExtraBold"/>
              </a:rPr>
              <a:t>Key Features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72700" y="466725"/>
            <a:ext cx="133350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6457950"/>
            <a:ext cx="1019175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4375" y="1709737"/>
            <a:ext cx="340698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JetBrains Mono"/>
              </a:rPr>
              <a:t>[FEATURE 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375" y="1938337"/>
            <a:ext cx="3244750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0" sz="937" i="0" u="none">
                <a:solidFill>
                  <a:srgbClr val="64748B"/>
                </a:solidFill>
                <a:latin typeface="Plus Jakarta Sans"/>
              </a:rPr>
              <a:t>[One-line concise technical description of the feature and how it resolves a pain point.]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3475" y="1709737"/>
            <a:ext cx="3407144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JetBrains Mono"/>
              </a:rPr>
              <a:t>[FEATURE 2]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3475" y="1938337"/>
            <a:ext cx="3244899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0" sz="937" i="0" u="none">
                <a:solidFill>
                  <a:srgbClr val="64748B"/>
                </a:solidFill>
                <a:latin typeface="Plus Jakarta Sans"/>
              </a:rPr>
              <a:t>[One-line concise technical description of the feature and how it resolves a pain point.]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2725" y="1709737"/>
            <a:ext cx="340698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JetBrains Mono"/>
              </a:rPr>
              <a:t>[FEATURE 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2725" y="1938337"/>
            <a:ext cx="3244750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0" sz="937" i="0" u="none">
                <a:solidFill>
                  <a:srgbClr val="64748B"/>
                </a:solidFill>
                <a:latin typeface="Plus Jakarta Sans"/>
              </a:rPr>
              <a:t>[One-line concise technical description of the feature and how it resolves a pain point.]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375" y="4398168"/>
            <a:ext cx="340698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JetBrains Mono"/>
              </a:rPr>
              <a:t>[FEATURE 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75" y="4626768"/>
            <a:ext cx="3244750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0" sz="937" i="0" u="none">
                <a:solidFill>
                  <a:srgbClr val="64748B"/>
                </a:solidFill>
                <a:latin typeface="Plus Jakarta Sans"/>
              </a:rPr>
              <a:t>[One-line concise technical description of the feature and how it resolves a pain point.]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3475" y="4398168"/>
            <a:ext cx="3407144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JetBrains Mono"/>
              </a:rPr>
              <a:t>[FEATURE 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3475" y="4626768"/>
            <a:ext cx="3244899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0" sz="937" i="0" u="none">
                <a:solidFill>
                  <a:srgbClr val="64748B"/>
                </a:solidFill>
                <a:latin typeface="Plus Jakarta Sans"/>
              </a:rPr>
              <a:t>[One-line concise technical description of the feature and how it resolves a pain point.]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2725" y="4398168"/>
            <a:ext cx="340698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JetBrains Mono"/>
              </a:rPr>
              <a:t>[FEATURE 6]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2725" y="4626768"/>
            <a:ext cx="3244750" cy="321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b="0" sz="937" i="0" u="none">
                <a:solidFill>
                  <a:srgbClr val="64748B"/>
                </a:solidFill>
                <a:latin typeface="Plus Jakarta Sans"/>
              </a:rPr>
              <a:t>[One-line concise technical description of the feature and how it resolves a pain point.]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1271587"/>
            <a:ext cx="342900" cy="3429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292375" y="1376362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4A3B8"/>
                </a:solidFill>
                <a:latin typeface="JetBrains Mono"/>
              </a:rPr>
              <a:t>FEATURE 01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73475" y="1271587"/>
            <a:ext cx="342900" cy="3429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51625" y="1376362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4A3B8"/>
                </a:solidFill>
                <a:latin typeface="JetBrains Mono"/>
              </a:rPr>
              <a:t>FEATURE 02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32725" y="1271587"/>
            <a:ext cx="342900" cy="3429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810726" y="1376362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4A3B8"/>
                </a:solidFill>
                <a:latin typeface="JetBrains Mono"/>
              </a:rPr>
              <a:t>FEATURE 03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4375" y="3960018"/>
            <a:ext cx="342900" cy="3429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292375" y="4064793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4A3B8"/>
                </a:solidFill>
                <a:latin typeface="JetBrains Mono"/>
              </a:rPr>
              <a:t>FEATURE 04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73475" y="3960018"/>
            <a:ext cx="342900" cy="3429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51625" y="4064793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4A3B8"/>
                </a:solidFill>
                <a:latin typeface="JetBrains Mono"/>
              </a:rPr>
              <a:t>FEATURE 05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32725" y="3960018"/>
            <a:ext cx="342900" cy="3429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10726" y="4064793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4A3B8"/>
                </a:solidFill>
                <a:latin typeface="JetBrains Mono"/>
              </a:rPr>
              <a:t>FEATURE 06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9150" y="1366837"/>
            <a:ext cx="13335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68725" y="1366837"/>
            <a:ext cx="1524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27975" y="1366837"/>
            <a:ext cx="152400" cy="152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9625" y="4055268"/>
            <a:ext cx="152400" cy="1524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87775" y="4055268"/>
            <a:ext cx="114300" cy="1524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37500" y="4055268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0" y="381000"/>
            <a:ext cx="22288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09662"/>
            <a:ext cx="8001000" cy="52244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1271587"/>
            <a:ext cx="7600950" cy="390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676525"/>
            <a:ext cx="7600950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4376737"/>
            <a:ext cx="7600950" cy="390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5781675"/>
            <a:ext cx="7600950" cy="390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5850" y="1109662"/>
            <a:ext cx="2952750" cy="67240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5850" y="1877317"/>
            <a:ext cx="2952750" cy="67240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5850" y="2644973"/>
            <a:ext cx="2952750" cy="67240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05850" y="3412628"/>
            <a:ext cx="2952750" cy="67240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6300" y="1362075"/>
            <a:ext cx="10477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0" y="2914650"/>
            <a:ext cx="10477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6300" y="4467225"/>
            <a:ext cx="104775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6300" y="5872162"/>
            <a:ext cx="10477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6334125"/>
            <a:ext cx="11125200" cy="2952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3400" y="6457950"/>
            <a:ext cx="34861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 Medium"/>
              </a:rPr>
              <a:t>[PROJECT NAME] · Code for Good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91825" y="6467475"/>
            <a:ext cx="866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 SemiBold"/>
              </a:rPr>
              <a:t>Slide 05 / 08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3400" y="381000"/>
            <a:ext cx="150495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628650"/>
            <a:ext cx="2945368" cy="32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b="0" sz="2250" i="0" u="none">
                <a:solidFill>
                  <a:srgbClr val="0F172A"/>
                </a:solidFill>
                <a:latin typeface="Plus Jakarta Sans ExtraBold"/>
              </a:rPr>
              <a:t>System Architecture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72625" y="466725"/>
            <a:ext cx="133350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3400" y="6457950"/>
            <a:ext cx="1019175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3425" y="2109787"/>
            <a:ext cx="7600950" cy="119062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ctr">
              <a:lnSpc>
                <a:spcPts val="862"/>
              </a:lnSpc>
            </a:pPr>
            <a:r>
              <a:rPr b="0" sz="862" i="0" u="none">
                <a:solidFill>
                  <a:srgbClr val="94A3B8"/>
                </a:solidFill>
                <a:latin typeface="JetBrains Mono"/>
              </a:rPr>
              <a:t>REST / HTTPS / WebSockets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425" y="3810000"/>
            <a:ext cx="7600950" cy="119062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ctr">
              <a:lnSpc>
                <a:spcPts val="862"/>
              </a:lnSpc>
            </a:pPr>
            <a:r>
              <a:rPr b="0" sz="862" i="0" u="none">
                <a:solidFill>
                  <a:srgbClr val="94A3B8"/>
                </a:solidFill>
                <a:latin typeface="JetBrains Mono"/>
              </a:rPr>
              <a:t>API Gateway / JSON Payloads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425" y="5214937"/>
            <a:ext cx="7600950" cy="119062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ctr">
              <a:lnSpc>
                <a:spcPts val="862"/>
              </a:lnSpc>
            </a:pPr>
            <a:r>
              <a:rPr b="0" sz="862" i="0" u="none">
                <a:solidFill>
                  <a:srgbClr val="94A3B8"/>
                </a:solidFill>
                <a:latin typeface="JetBrains Mono"/>
              </a:rPr>
              <a:t>Database Drivers / Queries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24262" y="2119312"/>
            <a:ext cx="85725" cy="109537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57587" y="3819525"/>
            <a:ext cx="85725" cy="109537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90925" y="5224462"/>
            <a:ext cx="85725" cy="10953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010650" y="1214437"/>
            <a:ext cx="25241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37" i="0" u="none">
                <a:solidFill>
                  <a:srgbClr val="0F172A"/>
                </a:solidFill>
                <a:latin typeface="Plus Jakarta Sans"/>
              </a:rPr>
              <a:t>Authentication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9675" y="1404937"/>
            <a:ext cx="2705100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JetBrains Mono"/>
              </a:rPr>
              <a:t>[Authentication Technology / RBAC / Security Protocol]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8750" y="1982092"/>
            <a:ext cx="24860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37" i="0" u="none">
                <a:solidFill>
                  <a:srgbClr val="0F172A"/>
                </a:solidFill>
                <a:latin typeface="Plus Jakarta Sans"/>
              </a:rPr>
              <a:t>Optional AI /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9675" y="2172592"/>
            <a:ext cx="2705100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JetBrains Mono"/>
              </a:rPr>
              <a:t>[Optional AI/ML Model / Service / Rule Engine (Remove if unused)]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8750" y="2749748"/>
            <a:ext cx="24860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37" i="0" u="none">
                <a:solidFill>
                  <a:srgbClr val="0F172A"/>
                </a:solidFill>
                <a:latin typeface="Plus Jakarta Sans"/>
              </a:rPr>
              <a:t>External APIs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9675" y="2940248"/>
            <a:ext cx="2705100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JetBrains Mono"/>
              </a:rPr>
              <a:t>[External API / Notification / Third-Party Integrations]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0175" y="3517403"/>
            <a:ext cx="25146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37" i="0" u="none">
                <a:solidFill>
                  <a:srgbClr val="0F172A"/>
                </a:solidFill>
                <a:latin typeface="Plus Jakarta Sans"/>
              </a:rPr>
              <a:t>Cloud / 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9675" y="3707903"/>
            <a:ext cx="2705100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JetBrains Mono"/>
              </a:rPr>
              <a:t>[Hosting Platform / Containerization / CI-CD Pipeline]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57400" y="1357312"/>
            <a:ext cx="1695450" cy="2190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29050" y="1357312"/>
            <a:ext cx="1724025" cy="2190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629275" y="1357312"/>
            <a:ext cx="1304925" cy="2190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57400" y="2762250"/>
            <a:ext cx="2171700" cy="2190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05300" y="2762250"/>
            <a:ext cx="2238375" cy="2190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057400" y="3057525"/>
            <a:ext cx="1638300" cy="2190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57400" y="4462462"/>
            <a:ext cx="2105025" cy="2190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238625" y="4462462"/>
            <a:ext cx="2038350" cy="2190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53175" y="4462462"/>
            <a:ext cx="1438275" cy="21907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057400" y="5867400"/>
            <a:ext cx="2333625" cy="2190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467225" y="5867400"/>
            <a:ext cx="1704975" cy="2190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48400" y="5867400"/>
            <a:ext cx="1704975" cy="2190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829675" y="1233487"/>
            <a:ext cx="104775" cy="1143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829675" y="2001142"/>
            <a:ext cx="142875" cy="1143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829675" y="2768798"/>
            <a:ext cx="142875" cy="1143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829675" y="3536453"/>
            <a:ext cx="114300" cy="1143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143125" y="1423987"/>
            <a:ext cx="123825" cy="109537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914775" y="1423987"/>
            <a:ext cx="85725" cy="109537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715000" y="1423987"/>
            <a:ext cx="133350" cy="109537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143125" y="5934075"/>
            <a:ext cx="95250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0" y="381000"/>
            <a:ext cx="22098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09662"/>
            <a:ext cx="2133600" cy="52244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1300" y="1109662"/>
            <a:ext cx="2133600" cy="52244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109662"/>
            <a:ext cx="2133600" cy="52244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7100" y="1109662"/>
            <a:ext cx="2133600" cy="522446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109662"/>
            <a:ext cx="2133600" cy="522446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1271587"/>
            <a:ext cx="552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" y="5934075"/>
            <a:ext cx="1885950" cy="2381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5125" y="1271587"/>
            <a:ext cx="552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05125" y="5934075"/>
            <a:ext cx="1885950" cy="2381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53025" y="1271587"/>
            <a:ext cx="552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53025" y="5934075"/>
            <a:ext cx="1885950" cy="2381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00925" y="1271587"/>
            <a:ext cx="55245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00925" y="5934075"/>
            <a:ext cx="1885950" cy="2381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48825" y="1271587"/>
            <a:ext cx="55245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48825" y="5934075"/>
            <a:ext cx="1885950" cy="2381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3400" y="6334125"/>
            <a:ext cx="11125200" cy="2952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3400" y="6457950"/>
            <a:ext cx="34861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 Medium"/>
              </a:rPr>
              <a:t>[PROJECT NAME] · Code for Good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91825" y="6467475"/>
            <a:ext cx="866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 SemiBold"/>
              </a:rPr>
              <a:t>Slide 06 / 08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3400" y="381000"/>
            <a:ext cx="1343025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3400" y="628650"/>
            <a:ext cx="1900237" cy="32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b="0" sz="2250" i="0" u="none">
                <a:solidFill>
                  <a:srgbClr val="0F172A"/>
                </a:solidFill>
                <a:latin typeface="Plus Jakarta Sans ExtraBold"/>
              </a:rPr>
              <a:t>How It Works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91675" y="466725"/>
            <a:ext cx="114300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3400" y="6457950"/>
            <a:ext cx="1019175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7225" y="1919287"/>
            <a:ext cx="198024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0F172A"/>
                </a:solidFill>
                <a:latin typeface="Plus Jakarta Sans"/>
              </a:rPr>
              <a:t>1. User Input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225" y="2138362"/>
            <a:ext cx="1885950" cy="3700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b="0" sz="862" i="0" u="none">
                <a:solidFill>
                  <a:srgbClr val="64748B"/>
                </a:solidFill>
                <a:latin typeface="Plus Jakarta Sans"/>
              </a:rPr>
              <a:t>User initiates request or inputs data through the application interface.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5125" y="1919287"/>
            <a:ext cx="198024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0F172A"/>
                </a:solidFill>
                <a:latin typeface="Plus Jakarta Sans"/>
              </a:rPr>
              <a:t>2.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5125" y="2138362"/>
            <a:ext cx="1885950" cy="3700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b="0" sz="862" i="0" u="none">
                <a:solidFill>
                  <a:srgbClr val="64748B"/>
                </a:solidFill>
                <a:latin typeface="Plus Jakarta Sans"/>
              </a:rPr>
              <a:t>System validates payload schema, checks permissions, and sanitizes input.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3025" y="1919287"/>
            <a:ext cx="198024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0F172A"/>
                </a:solidFill>
                <a:latin typeface="Plus Jakarta Sans"/>
              </a:rPr>
              <a:t>3. 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53025" y="2138362"/>
            <a:ext cx="1885950" cy="3700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b="0" sz="862" i="0" u="none">
                <a:solidFill>
                  <a:srgbClr val="64748B"/>
                </a:solidFill>
                <a:latin typeface="Plus Jakarta Sans"/>
              </a:rPr>
              <a:t>Core backend logic processes business rules, workflows, and state transitions.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0925" y="1919287"/>
            <a:ext cx="198024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0F172A"/>
                </a:solidFill>
                <a:latin typeface="Plus Jakarta Sans"/>
              </a:rPr>
              <a:t>4. Optional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0925" y="2138362"/>
            <a:ext cx="1885950" cy="3700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b="0" sz="862" i="0" u="none">
                <a:solidFill>
                  <a:srgbClr val="64748B"/>
                </a:solidFill>
                <a:latin typeface="Plus Jakarta Sans"/>
              </a:rPr>
              <a:t>Optional intelligence layer executes analysis, matching, or automated scoring.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8825" y="1919287"/>
            <a:ext cx="198024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0F172A"/>
                </a:solidFill>
                <a:latin typeface="Plus Jakarta Sans"/>
              </a:rPr>
              <a:t>5. Result / 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8825" y="2138362"/>
            <a:ext cx="1885950" cy="3700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b="0" sz="862" i="0" u="none">
                <a:solidFill>
                  <a:srgbClr val="64748B"/>
                </a:solidFill>
                <a:latin typeface="Plus Jakarta Sans"/>
              </a:rPr>
              <a:t>Application delivers final output, triggers notifications, and persists state.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7225" y="1595437"/>
            <a:ext cx="209550" cy="2095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53025" y="1595437"/>
            <a:ext cx="266700" cy="2095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00925" y="1595437"/>
            <a:ext cx="238125" cy="2095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48825" y="1595437"/>
            <a:ext cx="1809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0" y="381000"/>
            <a:ext cx="20383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09662"/>
            <a:ext cx="3594050" cy="52244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8900" y="1109662"/>
            <a:ext cx="3594050" cy="52244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1109662"/>
            <a:ext cx="3594199" cy="52244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1119187"/>
            <a:ext cx="3575000" cy="285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1404937"/>
            <a:ext cx="3575000" cy="406360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5468540"/>
            <a:ext cx="3575000" cy="85605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8425" y="1119187"/>
            <a:ext cx="3575000" cy="285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8425" y="1404937"/>
            <a:ext cx="3575000" cy="4063603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08425" y="5468540"/>
            <a:ext cx="3575000" cy="85605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73925" y="1119187"/>
            <a:ext cx="3575149" cy="2857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73925" y="1404937"/>
            <a:ext cx="3575149" cy="4063603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73925" y="5468540"/>
            <a:ext cx="3575149" cy="85605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6334125"/>
            <a:ext cx="11125200" cy="2952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3400" y="6457950"/>
            <a:ext cx="34861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 Medium"/>
              </a:rPr>
              <a:t>[PROJECT NAME] · Code for Good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91825" y="6467475"/>
            <a:ext cx="866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 SemiBold"/>
              </a:rPr>
              <a:t>Slide 07 / 08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3400" y="381000"/>
            <a:ext cx="1343025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3400" y="628650"/>
            <a:ext cx="2070258" cy="32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b="0" sz="2250" i="0" u="none">
                <a:solidFill>
                  <a:srgbClr val="0F172A"/>
                </a:solidFill>
                <a:latin typeface="Plus Jakarta Sans ExtraBold"/>
              </a:rPr>
              <a:t>Product Demo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63125" y="466725"/>
            <a:ext cx="14287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3400" y="6457950"/>
            <a:ext cx="1019175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68425" y="3079551"/>
            <a:ext cx="323850" cy="3238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30238" y="3479601"/>
            <a:ext cx="1800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62" i="0" u="none">
                <a:solidFill>
                  <a:srgbClr val="334155"/>
                </a:solidFill>
                <a:latin typeface="JetBrains Mono"/>
              </a:rPr>
              <a:t>[SCREENSHOT 1 — USER ENTRY]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9775" y="3660576"/>
            <a:ext cx="1581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Recommended: 16:9 UI 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275" y="5582840"/>
            <a:ext cx="33083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2563EB"/>
                </a:solidFill>
                <a:latin typeface="JetBrains Mono"/>
              </a:rPr>
              <a:t>[STEP 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275" y="5735240"/>
            <a:ext cx="3308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0F172A"/>
                </a:solidFill>
                <a:latin typeface="JetBrains Mono"/>
              </a:rPr>
              <a:t>[User Onboarding / Input]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275" y="5925740"/>
            <a:ext cx="3308300" cy="284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1"/>
              </a:lnSpc>
            </a:pPr>
            <a:r>
              <a:rPr b="0" sz="862" i="0" u="none">
                <a:solidFill>
                  <a:srgbClr val="64748B"/>
                </a:solidFill>
                <a:latin typeface="Plus Jakarta Sans"/>
              </a:rPr>
              <a:t>[Brief caption explaining what the user does on this specific screen.]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33926" y="3079551"/>
            <a:ext cx="323850" cy="3238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95726" y="3479601"/>
            <a:ext cx="20002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62" i="0" u="none">
                <a:solidFill>
                  <a:srgbClr val="334155"/>
                </a:solidFill>
                <a:latin typeface="JetBrains Mono"/>
              </a:rPr>
              <a:t>[SCREENSHOT 2 — CORE WORKFLOW]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5276" y="3660576"/>
            <a:ext cx="1581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Recommended: 16:9 UI Capture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1775" y="5582840"/>
            <a:ext cx="33083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2563EB"/>
                </a:solidFill>
                <a:latin typeface="JetBrains Mono"/>
              </a:rPr>
              <a:t>[STEP 2]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1775" y="5735240"/>
            <a:ext cx="3308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0F172A"/>
                </a:solidFill>
                <a:latin typeface="JetBrains Mono"/>
              </a:rPr>
              <a:t>[Core Processing / Workflow]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1775" y="5925740"/>
            <a:ext cx="3308300" cy="284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1"/>
              </a:lnSpc>
            </a:pPr>
            <a:r>
              <a:rPr b="0" sz="862" i="0" u="none">
                <a:solidFill>
                  <a:srgbClr val="64748B"/>
                </a:solidFill>
                <a:latin typeface="Plus Jakarta Sans"/>
              </a:rPr>
              <a:t>[Brief caption explaining the processing or management view shown.]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99575" y="3079551"/>
            <a:ext cx="323850" cy="3238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894712" y="3479601"/>
            <a:ext cx="19335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62" i="0" u="none">
                <a:solidFill>
                  <a:srgbClr val="334155"/>
                </a:solidFill>
                <a:latin typeface="JetBrains Mono"/>
              </a:rPr>
              <a:t>[SCREENSHOT 3 — FINAL RESULT]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925" y="3660576"/>
            <a:ext cx="1581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Recommended: 16:9 UI Capture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7275" y="5582840"/>
            <a:ext cx="330844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2563EB"/>
                </a:solidFill>
                <a:latin typeface="JetBrains Mono"/>
              </a:rPr>
              <a:t>[STEP 3]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7275" y="5735240"/>
            <a:ext cx="330844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0F172A"/>
                </a:solidFill>
                <a:latin typeface="JetBrains Mono"/>
              </a:rPr>
              <a:t>[Results &amp; Action Dashboard]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7275" y="5925740"/>
            <a:ext cx="3308449" cy="284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1"/>
              </a:lnSpc>
            </a:pPr>
            <a:r>
              <a:rPr b="0" sz="862" i="0" u="none">
                <a:solidFill>
                  <a:srgbClr val="64748B"/>
                </a:solidFill>
                <a:latin typeface="Plus Jakarta Sans"/>
              </a:rPr>
              <a:t>[Brief caption highlighting the completed action and delivered impact.]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150" y="381000"/>
            <a:ext cx="20764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910262"/>
            <a:ext cx="11125200" cy="409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123950"/>
            <a:ext cx="5467350" cy="46720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123950"/>
            <a:ext cx="5467350" cy="46720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5900" y="6005512"/>
            <a:ext cx="236220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6334125"/>
            <a:ext cx="11125200" cy="2952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6457950"/>
            <a:ext cx="34861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 Medium"/>
              </a:rPr>
              <a:t>[PROJECT NAME] · Code for Good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1825" y="6467475"/>
            <a:ext cx="866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 SemiBold"/>
              </a:rPr>
              <a:t>Slide 08 / 08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81000"/>
            <a:ext cx="118110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28650"/>
            <a:ext cx="3255406" cy="32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b="0" sz="2250" i="0" u="none">
                <a:solidFill>
                  <a:srgbClr val="0F172A"/>
                </a:solidFill>
                <a:latin typeface="Plus Jakarta Sans ExtraBold"/>
              </a:rPr>
              <a:t>Impact &amp; Future Scope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5025" y="466725"/>
            <a:ext cx="114300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3900" y="6019800"/>
            <a:ext cx="23622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FFFFFF"/>
                </a:solidFill>
                <a:latin typeface="Plus Jakarta Sans ExtraBold"/>
              </a:rPr>
              <a:t>Thank You! — </a:t>
            </a:r>
            <a:r>
              <a:rPr b="0" sz="1125" i="0" u="none">
                <a:solidFill>
                  <a:srgbClr val="38BDF8"/>
                </a:solidFill>
                <a:latin typeface="Plus Jakarta Sans ExtraBold"/>
              </a:rPr>
              <a:t>[PROJECT NAME]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6457950"/>
            <a:ext cx="1019175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2975" y="1333500"/>
            <a:ext cx="48577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Measurable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1333500"/>
            <a:ext cx="48577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Future Scope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20200" y="6072187"/>
            <a:ext cx="133350" cy="109537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425" y="1357312"/>
            <a:ext cx="13335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7250" y="1743075"/>
            <a:ext cx="104775" cy="114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7275" y="1724025"/>
            <a:ext cx="4619625" cy="30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b="1" sz="900" i="0" u="none">
                <a:solidFill>
                  <a:srgbClr val="0F172A"/>
                </a:solidFill>
                <a:latin typeface="Plus Jakarta Sans"/>
              </a:rPr>
              <a:t>[MEASURABLE IMPACT 1]: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[Quantifiable operational efficiency or reduction in turnaround time.]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7250" y="2318146"/>
            <a:ext cx="104775" cy="114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7275" y="2299096"/>
            <a:ext cx="4619625" cy="30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b="1" sz="900" i="0" u="none">
                <a:solidFill>
                  <a:srgbClr val="0F172A"/>
                </a:solidFill>
                <a:latin typeface="Plus Jakarta Sans"/>
              </a:rPr>
              <a:t>[MEASURABLE IMPACT 2]: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[Resource optimization, accuracy enhancement, or cost reduction.]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7250" y="2893218"/>
            <a:ext cx="104775" cy="1143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57275" y="2874168"/>
            <a:ext cx="4619625" cy="30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b="1" sz="900" i="0" u="none">
                <a:solidFill>
                  <a:srgbClr val="0F172A"/>
                </a:solidFill>
                <a:latin typeface="Plus Jakarta Sans"/>
              </a:rPr>
              <a:t>[MEASURABLE IMPACT 3]: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[User reach, scale of beneficiaries served, or reduced friction.]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7250" y="3468290"/>
            <a:ext cx="104775" cy="114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57275" y="3449240"/>
            <a:ext cx="4619625" cy="30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b="1" sz="900" i="0" u="none">
                <a:solidFill>
                  <a:srgbClr val="0F172A"/>
                </a:solidFill>
                <a:latin typeface="Plus Jakarta Sans"/>
              </a:rPr>
              <a:t>[MEASURABLE IMPACT 4]: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[End-to-end transparency, auditability, and data reliability.]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1275" y="1357312"/>
            <a:ext cx="133350" cy="1333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15100" y="1743075"/>
            <a:ext cx="104775" cy="1143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15125" y="1724025"/>
            <a:ext cx="4619625" cy="30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b="1" sz="900" i="0" u="none">
                <a:solidFill>
                  <a:srgbClr val="0F172A"/>
                </a:solidFill>
                <a:latin typeface="Plus Jakarta Sans"/>
              </a:rPr>
              <a:t>[FUTURE IMPROVEMENT 1]: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[Near-term architectural enhancement or offline capability.]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15100" y="2318146"/>
            <a:ext cx="104775" cy="1143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15125" y="2299096"/>
            <a:ext cx="4619625" cy="30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b="1" sz="900" i="0" u="none">
                <a:solidFill>
                  <a:srgbClr val="0F172A"/>
                </a:solidFill>
                <a:latin typeface="Plus Jakarta Sans"/>
              </a:rPr>
              <a:t>[FUTURE IMPROVEMENT 2]: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[Accessibility features, multilingual localization, or voice integration.]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15100" y="2893218"/>
            <a:ext cx="104775" cy="1143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15125" y="2874168"/>
            <a:ext cx="4619625" cy="30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b="1" sz="900" i="0" u="none">
                <a:solidFill>
                  <a:srgbClr val="0F172A"/>
                </a:solidFill>
                <a:latin typeface="Plus Jakarta Sans"/>
              </a:rPr>
              <a:t>[FUTURE IMPROVEMENT 3]: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[Advanced analytics, automated scoring, or predictive modeling.]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15100" y="3468290"/>
            <a:ext cx="104775" cy="1143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15125" y="3449240"/>
            <a:ext cx="4619625" cy="30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b="1" sz="900" i="0" u="none">
                <a:solidFill>
                  <a:srgbClr val="0F172A"/>
                </a:solidFill>
                <a:latin typeface="Plus Jakarta Sans"/>
              </a:rPr>
              <a:t>[FUTURE IMPROVEMENT 4]: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[Public API integrations, third-party ecosystem connectors, or enterprise scalability.]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